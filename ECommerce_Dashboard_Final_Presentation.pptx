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1F5F9"/>
                </a:solidFill>
                <a:latin typeface="Malgun Gothic"/>
              </a:defRPr>
            </a:pPr>
            <a:r>
              <a:t>E-Commerce 주문 데이터 분석 대시보드</a:t>
            </a:r>
          </a:p>
          <a:p>
            <a:pPr>
              <a:spcBef>
                <a:spcPts val="1200"/>
              </a:spcBef>
              <a:defRPr sz="1700">
                <a:solidFill>
                  <a:srgbClr val="3B82F6"/>
                </a:solidFill>
                <a:latin typeface="Malgun Gothic"/>
              </a:defRPr>
            </a:pPr>
            <a:r>
              <a:t>Streamlit &amp; Plotly 기반 실시간 분석 및 프로젝트 종합 회고 보고서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Malgun Gothic"/>
              </a:defRPr>
            </a:pPr>
            <a:r>
              <a:t>PROJECT OVERVIEW</a:t>
            </a:r>
          </a:p>
          <a:p>
            <a:pPr>
              <a:spcBef>
                <a:spcPts val="300"/>
              </a:spcBef>
              <a:defRPr sz="2000" b="1">
                <a:solidFill>
                  <a:srgbClr val="F1F5F9"/>
                </a:solidFill>
                <a:latin typeface="Malgun Gothic"/>
              </a:defRPr>
            </a:pPr>
            <a:r>
              <a:t>1. 프로젝트 개요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🎯 프로젝트 목적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  <a:latin typeface="Malgun Gothic"/>
              </a:defRPr>
            </a:pPr>
            <a:r>
              <a:t>• E-Commerce 쇼핑몰의 주문, 고객, 상품 데이터의 다이내믹 분석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  <a:latin typeface="Malgun Gothic"/>
              </a:defRPr>
            </a:pPr>
            <a:r>
              <a:t>• 사용자 선택 조건(사이드바 필터)에 따른 실시간 KPI/차트 연동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  <a:latin typeface="Malgun Gothic"/>
              </a:defRPr>
            </a:pPr>
            <a:r>
              <a:t>• 데이터 부재(Empty State) 시에도 에러 없이 동작하는 웹 애플리케이션 구축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🛠️ 개발 환경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  <a:latin typeface="Malgun Gothic"/>
              </a:defRPr>
            </a:pPr>
            <a:r>
              <a:t>• 언어: Python 3.10+ / 프레임워크: Streamlit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  <a:latin typeface="Malgun Gothic"/>
              </a:defRPr>
            </a:pPr>
            <a:r>
              <a:t>• 데이터 처리: Pandas, NumPy / 시각화: Plotly Express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  <a:latin typeface="Malgun Gothic"/>
              </a:defRPr>
            </a:pPr>
            <a:r>
              <a:t>• 버전 관리: Git, GitHub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Malgun Gothic"/>
              </a:defRPr>
            </a:pPr>
            <a:r>
              <a:t>TEAM &amp; ROLES</a:t>
            </a:r>
          </a:p>
          <a:p>
            <a:pPr>
              <a:spcBef>
                <a:spcPts val="300"/>
              </a:spcBef>
              <a:defRPr sz="2000" b="1">
                <a:solidFill>
                  <a:srgbClr val="F1F5F9"/>
                </a:solidFill>
                <a:latin typeface="Malgun Gothic"/>
              </a:defRPr>
            </a:pPr>
            <a:r>
              <a:t>2. 팀원과 역할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👤 팀원 A (팀장)</a:t>
            </a:r>
            <a:br/>
            <a:r>
              <a:t>[UI/UX 개발]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  <a:latin typeface="Malgun Gothic"/>
              </a:defRPr>
            </a:pPr>
            <a:r>
              <a:t>• Streamlit 대시보드 화면 구조 설계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  <a:latin typeface="Malgun Gothic"/>
              </a:defRPr>
            </a:pPr>
            <a:r>
              <a:t>• 사이드바 동적 필터 연동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  <a:latin typeface="Malgun Gothic"/>
              </a:defRPr>
            </a:pPr>
            <a:r>
              <a:t>• 핵심 KPI 8종 레이아웃 배치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55448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👤 팀원 B</a:t>
            </a:r>
            <a:br/>
            <a:r>
              <a:t>[데이터 &amp; 시각화]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  <a:latin typeface="Malgun Gothic"/>
              </a:defRPr>
            </a:pPr>
            <a:r>
              <a:t>• Pandas 기반 데이터 전처리 및 집계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  <a:latin typeface="Malgun Gothic"/>
              </a:defRPr>
            </a:pPr>
            <a:r>
              <a:t>• Plotly Express 시각화 차트 2종 구현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  <a:latin typeface="Malgun Gothic"/>
              </a:defRPr>
            </a:pPr>
            <a:r>
              <a:t>• 차트별 자동 결과 해석 패널 작성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👤 팀원 C</a:t>
            </a:r>
            <a:br/>
            <a:r>
              <a:t>[검증 &amp; 문서화]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  <a:latin typeface="Malgun Gothic"/>
              </a:defRPr>
            </a:pPr>
            <a:r>
              <a:t>• AI 코드 기능 단위 검증서 작성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  <a:latin typeface="Malgun Gothic"/>
              </a:defRPr>
            </a:pPr>
            <a:r>
              <a:t>• Empty State 예외 조건 로직 추가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  <a:latin typeface="Malgun Gothic"/>
              </a:defRPr>
            </a:pPr>
            <a:r>
              <a:t>• 프로젝트 회고 및 최종 보고서 작성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Malgun Gothic"/>
              </a:defRPr>
            </a:pPr>
            <a:r>
              <a:t>DASHBOARD IMPLEMENTATION - METRICS</a:t>
            </a:r>
          </a:p>
          <a:p>
            <a:pPr>
              <a:spcBef>
                <a:spcPts val="300"/>
              </a:spcBef>
              <a:defRPr sz="2000" b="1">
                <a:solidFill>
                  <a:srgbClr val="F1F5F9"/>
                </a:solidFill>
                <a:latin typeface="Malgun Gothic"/>
              </a:defRPr>
            </a:pPr>
            <a:r>
              <a:t>3. 구현 결과: 데이터셋 &amp; 핵심 KPI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📌 핵심 성과 지표 (8대 KPI)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  <a:latin typeface="Malgun Gothic"/>
              </a:defRPr>
            </a:pPr>
            <a:r>
              <a:t>• 전체 고객 수: 1,200 명 | 전체 상품 수: 300 개 | 전체 주문 수: 6,000 건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  <a:latin typeface="Malgun Gothic"/>
              </a:defRPr>
            </a:pPr>
            <a:r>
              <a:t>• 총 주문 수량: 23,596 개 | 총 주문 금액: ₩1,837,774,300 원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  <a:latin typeface="Malgun Gothic"/>
              </a:defRPr>
            </a:pPr>
            <a:r>
              <a:t>• 평균 주문 금액: ₩306,296 원 | 배송완료 주문 수: 4,862 건 | 취소/환불 주문 수: 810 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Malgun Gothic"/>
              </a:defRPr>
            </a:pPr>
            <a:r>
              <a:t>DASHBOARD IMPLEMENTATION - CHARTS</a:t>
            </a:r>
          </a:p>
          <a:p>
            <a:pPr>
              <a:spcBef>
                <a:spcPts val="300"/>
              </a:spcBef>
              <a:defRPr sz="2000" b="1">
                <a:solidFill>
                  <a:srgbClr val="F1F5F9"/>
                </a:solidFill>
                <a:latin typeface="Malgun Gothic"/>
              </a:defRPr>
            </a:pPr>
            <a:r>
              <a:t>3. 구현 결과: 차트 시각화 및 결과 해석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📈 Chart 1: 카테고리별 매출 현황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  <a:latin typeface="Malgun Gothic"/>
              </a:defRPr>
            </a:pPr>
            <a:r>
              <a:t>• Plotly Express Bar Chart (`px.bar`) 사용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  <a:latin typeface="Malgun Gothic"/>
              </a:defRPr>
            </a:pPr>
            <a:r>
              <a:t>• 고단가 카테고리가 전체 매출 상승 견인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  <a:latin typeface="Malgun Gothic"/>
              </a:defRPr>
            </a:pPr>
            <a:r>
              <a:t>• 주력 카테고리 중심의 마케팅 자원 집행 유효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📉 Chart 2: 월별 주문 금액 추이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  <a:latin typeface="Malgun Gothic"/>
              </a:defRPr>
            </a:pPr>
            <a:r>
              <a:t>• Plotly Express Line Chart (`px.line`) 사용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  <a:latin typeface="Malgun Gothic"/>
              </a:defRPr>
            </a:pPr>
            <a:r>
              <a:t>• 월별 매출 변동성 및 시즌성 패턴 확인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  <a:latin typeface="Malgun Gothic"/>
              </a:defRPr>
            </a:pPr>
            <a:r>
              <a:t>• 성수기/비수기 맞춤 수급 계획 필요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Malgun Gothic"/>
              </a:defRPr>
            </a:pPr>
            <a:r>
              <a:t>WHAT WE LEARNED</a:t>
            </a:r>
          </a:p>
          <a:p>
            <a:pPr>
              <a:spcBef>
                <a:spcPts val="300"/>
              </a:spcBef>
              <a:defRPr sz="2000" b="1">
                <a:solidFill>
                  <a:srgbClr val="F1F5F9"/>
                </a:solidFill>
                <a:latin typeface="Malgun Gothic"/>
              </a:defRPr>
            </a:pPr>
            <a:r>
              <a:t>4. 새롭게 배운 내용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💡 핵심 학습 내용 요약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  <a:latin typeface="Malgun Gothic"/>
              </a:defRPr>
            </a:pPr>
            <a:r>
              <a:t>• Streamlit 반응형 UI: `@st.cache_data`를 통한 데이터 로딩 최적화 및 `st.sidebar` 필터 연동 체계 이해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  <a:latin typeface="Malgun Gothic"/>
              </a:defRPr>
            </a:pPr>
            <a:r>
              <a:t>• Plotly Express 시각화: 인터랙티브 그래프 구현 및 `st.info` 패널을 활용한 동적 분석 결과 제공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  <a:latin typeface="Malgun Gothic"/>
              </a:defRPr>
            </a:pPr>
            <a:r>
              <a:t>• Pandas 최신 버전에 대한 대처: Pandas 2.2.0 이후 오프셋 표기법(`resample('ME')`) 실무 적용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Malgun Gothic"/>
              </a:defRPr>
            </a:pPr>
            <a:r>
              <a:t>CODE VERIFICATION &amp; TESTING</a:t>
            </a:r>
          </a:p>
          <a:p>
            <a:pPr>
              <a:spcBef>
                <a:spcPts val="300"/>
              </a:spcBef>
              <a:defRPr sz="2000" b="1">
                <a:solidFill>
                  <a:srgbClr val="F1F5F9"/>
                </a:solidFill>
                <a:latin typeface="Malgun Gothic"/>
              </a:defRPr>
            </a:pPr>
            <a:r>
              <a:t>5. AI 작성 코드 단위 검증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🧪 기능 단위 검증 결과 (100% PASSED)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  <a:latin typeface="Malgun Gothic"/>
              </a:defRPr>
            </a:pPr>
            <a:r>
              <a:t>1) Streamlit 기본 UI 검증: 타이틀, 설명문, 5종 사이드바 필터 정상 노출 (PASSED)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  <a:latin typeface="Malgun Gothic"/>
              </a:defRPr>
            </a:pPr>
            <a:r>
              <a:t>2) KPI 연동 및 수치 정확도 검증: 필터 변경 시 8개 지표 실시간 재계산 일치 (PASSED)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  <a:latin typeface="Malgun Gothic"/>
              </a:defRPr>
            </a:pPr>
            <a:r>
              <a:t>3) 예외 처리(Empty State) 검증: 데이터 0건 조회 시 경고 문구 출력 및 앱 다운 방지 (PASSED)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  <a:latin typeface="Malgun Gothic"/>
              </a:defRPr>
            </a:pPr>
            <a:r>
              <a:t>4) 차트 &amp; 결과 해석 패널 검증: Plotly 차트 및 4요소 결과 해석 노출 (PASSED)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Malgun Gothic"/>
              </a:defRPr>
            </a:pPr>
            <a:r>
              <a:t>TROUBLESHOOTING &amp; ISSUES</a:t>
            </a:r>
          </a:p>
          <a:p>
            <a:pPr>
              <a:spcBef>
                <a:spcPts val="300"/>
              </a:spcBef>
              <a:defRPr sz="2000" b="1">
                <a:solidFill>
                  <a:srgbClr val="F1F5F9"/>
                </a:solidFill>
                <a:latin typeface="Malgun Gothic"/>
              </a:defRPr>
            </a:pPr>
            <a:r>
              <a:t>6. 트러블슈팅 및 이슈 해결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⚡ 주요 이슈 및 해결 과제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  <a:latin typeface="Malgun Gothic"/>
              </a:defRPr>
            </a:pPr>
            <a:r>
              <a:t>• 이슈 1: `df.resample('M')` 사용 시 ValueError 발생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  <a:latin typeface="Malgun Gothic"/>
              </a:defRPr>
            </a:pPr>
            <a:r>
              <a:t>  → 해결: Pandas 2.2.0 이후 'M' 지원 중단에 따라 Month End 의미의 'ME'로 변경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  <a:latin typeface="Malgun Gothic"/>
              </a:defRPr>
            </a:pPr>
            <a:r>
              <a:t>• 이슈 2: Plotly 라이브러리 미설치로 인한 ModuleNotFoundError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  <a:latin typeface="Malgun Gothic"/>
              </a:defRPr>
            </a:pPr>
            <a:r>
              <a:t>  → 해결: 가상환경(`.venv`) 내 `pip install plotly` 설치 및 `requirements.txt` 명시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  <a:latin typeface="Malgun Gothic"/>
              </a:defRPr>
            </a:pPr>
            <a:r>
              <a:t>• 이슈 3: 필터 조회 결과가 0건일 때 연산 예외 발생 위험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  <a:latin typeface="Malgun Gothic"/>
              </a:defRPr>
            </a:pPr>
            <a:r>
              <a:t>  → 해결: `is_empty` 분기문 최상단 배치로 ZeroDivisionError 사전 차단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Malgun Gothic"/>
              </a:defRPr>
            </a:pPr>
            <a:r>
              <a:t>GITHUB COLLABORATION &amp; LESSONS</a:t>
            </a:r>
          </a:p>
          <a:p>
            <a:pPr>
              <a:spcBef>
                <a:spcPts val="300"/>
              </a:spcBef>
              <a:defRPr sz="2000" b="1">
                <a:solidFill>
                  <a:srgbClr val="F1F5F9"/>
                </a:solidFill>
                <a:latin typeface="Malgun Gothic"/>
              </a:defRPr>
            </a:pPr>
            <a:r>
              <a:t>7. GitHub 협업에서 깨달은 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🌿 협업 레슨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  <a:latin typeface="Malgun Gothic"/>
              </a:defRPr>
            </a:pPr>
            <a:r>
              <a:t>• `requirements.txt` 의존성 관리: 팀원 간 패키지 버전 일치화로 실행 에러 방지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  <a:latin typeface="Malgun Gothic"/>
              </a:defRPr>
            </a:pPr>
            <a:r>
              <a:t>• Feature Branch 전략 준수: 메인 브랜치 직접 커밋을 지양하고 기능 단위 브랜치 PR 작성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  <a:latin typeface="Malgun Gothic"/>
              </a:defRPr>
            </a:pPr>
            <a:r>
              <a:t>• 코드 리뷰 문화: AI 코드를 검증 없이 병합하지 않고 로컬 테스트 후 승인 절차 진행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Malgun Gothic"/>
              </a:defRPr>
            </a:pPr>
            <a:r>
              <a:t>UNRESOLVED &amp; LEARNING PLANS</a:t>
            </a:r>
          </a:p>
          <a:p>
            <a:pPr>
              <a:spcBef>
                <a:spcPts val="300"/>
              </a:spcBef>
              <a:defRPr sz="2000" b="1">
                <a:solidFill>
                  <a:srgbClr val="F1F5F9"/>
                </a:solidFill>
                <a:latin typeface="Malgun Gothic"/>
              </a:defRPr>
            </a:pPr>
            <a:r>
              <a:t>8. 미해결 과제 &amp; 추가 학습 계획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📚 향후 학습 방향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  <a:latin typeface="Malgun Gothic"/>
              </a:defRPr>
            </a:pPr>
            <a:r>
              <a:t>• Streamlit 캐싱(`@st.cache_data`) 및 세션 상태 관리(`st.session_state`) 깊이 학습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  <a:latin typeface="Malgun Gothic"/>
              </a:defRPr>
            </a:pPr>
            <a:r>
              <a:t>• CSV 방식에서 PostgreSQL / MySQL 등 RDBMS 데이터 파이프라인 연동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  <a:latin typeface="Malgun Gothic"/>
              </a:defRPr>
            </a:pPr>
            <a:r>
              <a:t>• 고객 RFM 세그먼테이션, 코호트 재구매율 분석 기능 시각화 고도화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Malgun Gothic"/>
              </a:defRPr>
            </a:pPr>
            <a:r>
              <a:t>NEXT PROJECT DIRECTION</a:t>
            </a:r>
          </a:p>
          <a:p>
            <a:pPr>
              <a:spcBef>
                <a:spcPts val="300"/>
              </a:spcBef>
              <a:defRPr sz="2000" b="1">
                <a:solidFill>
                  <a:srgbClr val="F1F5F9"/>
                </a:solidFill>
                <a:latin typeface="Malgun Gothic"/>
              </a:defRPr>
            </a:pPr>
            <a:r>
              <a:t>9. 다음 프로젝트 개선 방향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🚀 차기 대시보드 로드맵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  <a:latin typeface="Malgun Gothic"/>
              </a:defRPr>
            </a:pPr>
            <a:r>
              <a:t>1) 실시간 DB 파이프라인 구축: REST API / DB 직접 연동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  <a:latin typeface="Malgun Gothic"/>
              </a:defRPr>
            </a:pPr>
            <a:r>
              <a:t>2) 리포트 내보내기 기능: 필터 결과 데이터 CSV 다운로드 및 PDF 보고서 생성 버튼 추가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  <a:latin typeface="Malgun Gothic"/>
              </a:defRPr>
            </a:pPr>
            <a:r>
              <a:t>3) Multi-page App &amp; 사용자 권한 관리: 관리자/사용자 기능 분리 대시보드 구현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1F5F9"/>
                </a:solidFill>
                <a:latin typeface="Malgun Gothic"/>
              </a:defRPr>
            </a:pPr>
            <a:r>
              <a:t>감사합니다</a:t>
            </a:r>
          </a:p>
          <a:p>
            <a:pPr>
              <a:defRPr sz="2000">
                <a:solidFill>
                  <a:srgbClr val="3B82F6"/>
                </a:solidFill>
                <a:latin typeface="Malgun Gothic"/>
              </a:defRPr>
            </a:pPr>
            <a:r>
              <a:t>Q&amp;A 및 피드백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